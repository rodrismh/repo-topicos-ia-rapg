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97436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56668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73737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007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62775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110912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0535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43458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01857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581096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1680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62403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80850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9508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8410186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13831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2633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ED7BDE-F2BF-4F9C-B819-2DD73251DE7E}" type="datetimeFigureOut">
              <a:rPr lang="es-MX" smtClean="0"/>
              <a:t>08/04/2025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A89B69-3F25-470E-9917-7E93AA76C96C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4992618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cs.cic.ipn.mx/2015_94/Evolucion%20diferencial%20con%20perturbaciones%20Gaussianas.pdf" TargetMode="External"/><Relationship Id="rId2" Type="http://schemas.openxmlformats.org/officeDocument/2006/relationships/hyperlink" Target="https://www.mql5.com/es/articles/1378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re.ac.uk/reader/15756963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5ADC6-0461-4539-9CBB-B6F949C10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0919"/>
            <a:ext cx="9144000" cy="2387600"/>
          </a:xfrm>
        </p:spPr>
        <p:txBody>
          <a:bodyPr/>
          <a:lstStyle/>
          <a:p>
            <a:r>
              <a:rPr lang="es-MX" dirty="0"/>
              <a:t>Evolución diferencial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DEB002-C9A5-4466-964D-9B3B154BB4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s-MX" dirty="0"/>
              <a:t>Tarea 1 Unidad 3 Tópicos de inteligencia artificial </a:t>
            </a:r>
          </a:p>
          <a:p>
            <a:pPr algn="l"/>
            <a:r>
              <a:rPr lang="es-MX" dirty="0"/>
              <a:t>Rodrigo Alonso Páez Gastelum</a:t>
            </a:r>
          </a:p>
          <a:p>
            <a:pPr algn="l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615985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9F2DA-61C7-45CC-8C59-ECDDF9034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Introducción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0B921F-5CE8-41CA-A4CD-E1E6C4795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optimización metaheurística son una clase de algoritmos que usan enfoques heurísticos para resolver problemas de optimización complejos.</a:t>
            </a:r>
          </a:p>
          <a:p>
            <a:r>
              <a:rPr lang="es-MX" dirty="0"/>
              <a:t>La ventaja de los métodos es que pueden trabajar con una caja negra, es decir una función para la que no existe una solución analítica, se basa en principios probabilísticos y ofrecen una buena calidad de solución.</a:t>
            </a:r>
          </a:p>
          <a:p>
            <a:r>
              <a:rPr lang="es-MX" dirty="0"/>
              <a:t>Los algoritmos evolutivos (EA) simulan el proceso de evolución natural para resolver problemas de optimización complejos.</a:t>
            </a:r>
          </a:p>
          <a:p>
            <a:r>
              <a:rPr lang="es-MX" dirty="0"/>
              <a:t>Se basan el los principios de herencia, mutación, cruce y selección natural. De esta forma, la población converge gradualmente hacia la solución óptima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899077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24CE0-1DE6-4056-8329-810687AA1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Algunos algoritmos evolutivos populares son:</a:t>
            </a:r>
            <a:br>
              <a:rPr lang="es-MX" dirty="0"/>
            </a:b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8AC746-071B-410A-BB3F-A06586B80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los algoritmos genéticos (AG)</a:t>
            </a:r>
          </a:p>
          <a:p>
            <a:r>
              <a:rPr lang="es-MX" dirty="0"/>
              <a:t>programación evolutiva (PE) </a:t>
            </a:r>
          </a:p>
          <a:p>
            <a:r>
              <a:rPr lang="es-MX" dirty="0"/>
              <a:t>estrategias evolutivas (EE) </a:t>
            </a:r>
          </a:p>
          <a:p>
            <a:r>
              <a:rPr lang="es-MX" dirty="0"/>
              <a:t>programación genética (GP).</a:t>
            </a:r>
          </a:p>
        </p:txBody>
      </p:sp>
    </p:spTree>
    <p:extLst>
      <p:ext uri="{BB962C8B-B14F-4D97-AF65-F5344CB8AC3E}">
        <p14:creationId xmlns:p14="http://schemas.microsoft.com/office/powerpoint/2010/main" val="28991114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90578-B149-4600-AE33-A56AA3C3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Evolución diferencial (DE)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73810-DE30-4559-8E9E-066CE7422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La DE usa un conjunto de vectores que mutan y se entrecruzan para crear soluciones nuevas y es capaz de encontrar óptimos locales.</a:t>
            </a:r>
          </a:p>
          <a:p>
            <a:r>
              <a:rPr lang="es-MX" dirty="0"/>
              <a:t>DE fue desarrollado en los años 90 por </a:t>
            </a:r>
            <a:r>
              <a:rPr lang="es-MX" dirty="0" err="1"/>
              <a:t>Storn</a:t>
            </a:r>
            <a:r>
              <a:rPr lang="es-MX" dirty="0"/>
              <a:t> y Price (publicado en "</a:t>
            </a:r>
            <a:r>
              <a:rPr lang="es-MX" dirty="0" err="1"/>
              <a:t>Differential</a:t>
            </a:r>
            <a:r>
              <a:rPr lang="es-MX" dirty="0"/>
              <a:t> </a:t>
            </a:r>
            <a:r>
              <a:rPr lang="es-MX" dirty="0" err="1"/>
              <a:t>Evolution</a:t>
            </a:r>
            <a:r>
              <a:rPr lang="es-MX" dirty="0"/>
              <a:t> - A Simple and </a:t>
            </a:r>
            <a:r>
              <a:rPr lang="es-MX" dirty="0" err="1"/>
              <a:t>Efficient</a:t>
            </a:r>
            <a:r>
              <a:rPr lang="es-MX" dirty="0"/>
              <a:t> </a:t>
            </a:r>
            <a:r>
              <a:rPr lang="es-MX" dirty="0" err="1"/>
              <a:t>Heuristic</a:t>
            </a:r>
            <a:r>
              <a:rPr lang="es-MX" dirty="0"/>
              <a:t> </a:t>
            </a:r>
            <a:r>
              <a:rPr lang="es-MX" dirty="0" err="1"/>
              <a:t>for</a:t>
            </a:r>
            <a:r>
              <a:rPr lang="es-MX" dirty="0"/>
              <a:t> global </a:t>
            </a:r>
            <a:r>
              <a:rPr lang="es-MX" dirty="0" err="1"/>
              <a:t>Optimization</a:t>
            </a:r>
            <a:r>
              <a:rPr lang="es-MX" dirty="0"/>
              <a:t> </a:t>
            </a:r>
            <a:r>
              <a:rPr lang="es-MX" dirty="0" err="1"/>
              <a:t>over</a:t>
            </a:r>
            <a:r>
              <a:rPr lang="es-MX" dirty="0"/>
              <a:t> </a:t>
            </a:r>
            <a:r>
              <a:rPr lang="es-MX" dirty="0" err="1"/>
              <a:t>Continuous</a:t>
            </a:r>
            <a:r>
              <a:rPr lang="es-MX" dirty="0"/>
              <a:t> Spaces") </a:t>
            </a:r>
          </a:p>
          <a:p>
            <a:r>
              <a:rPr lang="es-MX" dirty="0"/>
              <a:t>Es uno de los métodos de optimización mas popular</a:t>
            </a:r>
          </a:p>
        </p:txBody>
      </p:sp>
    </p:spTree>
    <p:extLst>
      <p:ext uri="{BB962C8B-B14F-4D97-AF65-F5344CB8AC3E}">
        <p14:creationId xmlns:p14="http://schemas.microsoft.com/office/powerpoint/2010/main" val="9806587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0F95-CAA9-4CF0-ABC4-2612DFD1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Descripción del algoritmo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351122-DE8C-4016-8585-AD740691E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El algoritmo usa población de vectores que representan soluciones potenciales. Cada vector se compone por valores que representan las variables del problema.</a:t>
            </a:r>
          </a:p>
          <a:p>
            <a:r>
              <a:rPr lang="es-MX" dirty="0"/>
              <a:t>El algoritmo comienza creando una población aleatoria de vectores, después itera en la que cada vector muta y se combina con otros vectores de la población. La </a:t>
            </a:r>
            <a:r>
              <a:rPr lang="es-MX" dirty="0" err="1"/>
              <a:t>mutacion</a:t>
            </a:r>
            <a:r>
              <a:rPr lang="es-MX" dirty="0"/>
              <a:t> se realiza combinando dos vectores y dando como resultado un tercero, esto crea una posible solución.</a:t>
            </a:r>
          </a:p>
          <a:p>
            <a:r>
              <a:rPr lang="es-MX" dirty="0"/>
              <a:t>El resultado obtenido se cruza con el vector original. El resultado se compara con la mejor solución actual</a:t>
            </a:r>
          </a:p>
          <a:p>
            <a:r>
              <a:rPr lang="es-MX" dirty="0"/>
              <a:t>Este proceso se repite hasta que tope una condición de parada.</a:t>
            </a:r>
          </a:p>
        </p:txBody>
      </p:sp>
    </p:spTree>
    <p:extLst>
      <p:ext uri="{BB962C8B-B14F-4D97-AF65-F5344CB8AC3E}">
        <p14:creationId xmlns:p14="http://schemas.microsoft.com/office/powerpoint/2010/main" val="1010567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5B7ED-D42D-4431-8172-D6F7418C2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Fórmula para crear un nuevo candidato (diferenciación):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AA553-8A22-444E-9F50-A4B0AC6FC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151682"/>
            <a:ext cx="8946541" cy="4195481"/>
          </a:xfrm>
        </p:spPr>
        <p:txBody>
          <a:bodyPr/>
          <a:lstStyle/>
          <a:p>
            <a:r>
              <a:rPr lang="pt-BR" dirty="0"/>
              <a:t>r = r1 + F * (r2 - r3) donde:</a:t>
            </a:r>
          </a:p>
          <a:p>
            <a:r>
              <a:rPr lang="es-MX" dirty="0"/>
              <a:t> - componente del nuevo vector</a:t>
            </a:r>
          </a:p>
          <a:p>
            <a:r>
              <a:rPr lang="es-MX" dirty="0"/>
              <a:t>r1, r2 y r3 - componentes de vectores elegidos al azar (soluciones individuales de la población)</a:t>
            </a:r>
          </a:p>
          <a:p>
            <a:r>
              <a:rPr lang="es-MX" dirty="0"/>
              <a:t>F - coeficiente de diferenciación o peso diferencial, que controla el grado de variabilidad de la solución (dispersión de los valores obtenidos), por defecto, se toma en el rango (0.0;1.0]</a:t>
            </a:r>
          </a:p>
          <a:p>
            <a:endParaRPr lang="es-MX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C7C389-814C-4CE2-B1D3-9F3527DAA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682" y="5075663"/>
            <a:ext cx="3715268" cy="45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086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AA3CC-4AE3-416A-B6AA-D86FE0B1B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Fórmula de cruce (crossover):</a:t>
            </a:r>
            <a:br>
              <a:rPr lang="es-MX" dirty="0"/>
            </a:br>
            <a:br>
              <a:rPr lang="es-MX" dirty="0"/>
            </a:br>
            <a:endParaRPr lang="es-MX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59322-EF61-4C5A-B819-B668B1C89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u = crossover (x, v)</a:t>
            </a:r>
          </a:p>
          <a:p>
            <a:r>
              <a:rPr lang="es-MX" dirty="0"/>
              <a:t>La formula describe el </a:t>
            </a:r>
            <a:r>
              <a:rPr lang="es-MX" dirty="0" err="1"/>
              <a:t>cruse</a:t>
            </a:r>
            <a:r>
              <a:rPr lang="es-MX" dirty="0"/>
              <a:t> entre la solución actual “x” y el nuevo candidato “v”</a:t>
            </a:r>
          </a:p>
        </p:txBody>
      </p:sp>
    </p:spTree>
    <p:extLst>
      <p:ext uri="{BB962C8B-B14F-4D97-AF65-F5344CB8AC3E}">
        <p14:creationId xmlns:p14="http://schemas.microsoft.com/office/powerpoint/2010/main" val="182574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9D59F-75F5-4A35-AB1A-284D1433E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Ejemplo de pseudocódigo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DBAD7-3435-4040-B50E-87BD363E23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MX" dirty="0"/>
              <a:t>Se crea la población de vectores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Se calcula la función de aptitud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Se selecciona una mejor solución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Mejoramos la población (se eligen las mejores mutaciones)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Se crea un componente vectorial mutado o se deja el mismo, dependiendo de que opción sea mejor</a:t>
            </a:r>
          </a:p>
          <a:p>
            <a:pPr marL="457200" indent="-457200">
              <a:buFont typeface="+mj-lt"/>
              <a:buAutoNum type="arabicPeriod"/>
            </a:pPr>
            <a:r>
              <a:rPr lang="es-MX" dirty="0"/>
              <a:t>Se regresa al paso 2</a:t>
            </a:r>
          </a:p>
        </p:txBody>
      </p:sp>
    </p:spTree>
    <p:extLst>
      <p:ext uri="{BB962C8B-B14F-4D97-AF65-F5344CB8AC3E}">
        <p14:creationId xmlns:p14="http://schemas.microsoft.com/office/powerpoint/2010/main" val="3487839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40A107A-CBA6-4043-9EDA-8ADC8F83E3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3541" y="1619502"/>
            <a:ext cx="3439005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160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61474-8D82-4611-927E-25D0D6D92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fuentes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1DE5B-2268-46C8-9CE3-9D528F228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>
                <a:hlinkClick r:id="rId2"/>
              </a:rPr>
              <a:t>https://www.mql5.com/es/articles/13781</a:t>
            </a:r>
            <a:endParaRPr lang="es-MX" dirty="0"/>
          </a:p>
          <a:p>
            <a:r>
              <a:rPr lang="es-MX" dirty="0">
                <a:hlinkClick r:id="rId3"/>
              </a:rPr>
              <a:t>https://rcs.cic.ipn.mx/2015_94/Evolucion%20diferencial%20con%20perturbaciones%20Gaussianas.pdf</a:t>
            </a:r>
            <a:endParaRPr lang="es-MX" dirty="0"/>
          </a:p>
          <a:p>
            <a:r>
              <a:rPr lang="es-MX" dirty="0">
                <a:hlinkClick r:id="rId4"/>
              </a:rPr>
              <a:t>https://core.ac.uk/reader/157569630</a:t>
            </a:r>
            <a:endParaRPr lang="es-MX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1622699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249</TotalTime>
  <Words>541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Century Gothic</vt:lpstr>
      <vt:lpstr>Wingdings 3</vt:lpstr>
      <vt:lpstr>Ion</vt:lpstr>
      <vt:lpstr>Evolución diferencial</vt:lpstr>
      <vt:lpstr>Introducción</vt:lpstr>
      <vt:lpstr>Algunos algoritmos evolutivos populares son: </vt:lpstr>
      <vt:lpstr>Evolución diferencial (DE)</vt:lpstr>
      <vt:lpstr>Descripción del algoritmo </vt:lpstr>
      <vt:lpstr>Fórmula para crear un nuevo candidato (diferenciación):</vt:lpstr>
      <vt:lpstr>Fórmula de cruce (crossover):  </vt:lpstr>
      <vt:lpstr>Ejemplo de pseudocódigo</vt:lpstr>
      <vt:lpstr>PowerPoint Presentation</vt:lpstr>
      <vt:lpstr>fuentes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Evolución diferencial</dc:title>
  <dc:creator>RODRIGO ALONSO PAEZ GASTELUM</dc:creator>
  <cp:lastModifiedBy>RODRIGO ALONSO PAEZ GASTELUM</cp:lastModifiedBy>
  <cp:revision>8</cp:revision>
  <dcterms:created xsi:type="dcterms:W3CDTF">2025-04-09T02:58:57Z</dcterms:created>
  <dcterms:modified xsi:type="dcterms:W3CDTF">2025-04-09T07:12:09Z</dcterms:modified>
</cp:coreProperties>
</file>